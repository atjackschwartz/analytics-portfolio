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D8E3DF-7129-428D-9278-B2979C076964}" v="7" dt="2025-11-03T21:35:21.5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Schwartz" userId="da9bca8de754b386" providerId="LiveId" clId="{1068BB1D-95EC-4C35-9BF4-99C256A087C7}"/>
    <pc:docChg chg="modSld">
      <pc:chgData name="Jack Schwartz" userId="da9bca8de754b386" providerId="LiveId" clId="{1068BB1D-95EC-4C35-9BF4-99C256A087C7}" dt="2025-11-03T21:35:21.531" v="12" actId="403"/>
      <pc:docMkLst>
        <pc:docMk/>
      </pc:docMkLst>
      <pc:sldChg chg="modSp mod">
        <pc:chgData name="Jack Schwartz" userId="da9bca8de754b386" providerId="LiveId" clId="{1068BB1D-95EC-4C35-9BF4-99C256A087C7}" dt="2025-11-03T21:35:21.531" v="12" actId="403"/>
        <pc:sldMkLst>
          <pc:docMk/>
          <pc:sldMk cId="893589551" sldId="256"/>
        </pc:sldMkLst>
        <pc:spChg chg="mod">
          <ac:chgData name="Jack Schwartz" userId="da9bca8de754b386" providerId="LiveId" clId="{1068BB1D-95EC-4C35-9BF4-99C256A087C7}" dt="2025-11-03T21:35:21.531" v="12" actId="403"/>
          <ac:spMkLst>
            <pc:docMk/>
            <pc:sldMk cId="893589551" sldId="256"/>
            <ac:spMk id="2" creationId="{DC1485B5-4C2F-3E4A-032B-7C250B0CBEE8}"/>
          </ac:spMkLst>
        </pc:spChg>
        <pc:spChg chg="mod">
          <ac:chgData name="Jack Schwartz" userId="da9bca8de754b386" providerId="LiveId" clId="{1068BB1D-95EC-4C35-9BF4-99C256A087C7}" dt="2025-11-03T21:35:19.130" v="11" actId="404"/>
          <ac:spMkLst>
            <pc:docMk/>
            <pc:sldMk cId="893589551" sldId="256"/>
            <ac:spMk id="3" creationId="{7215353C-D0F1-EFCA-63A6-3494C68FC978}"/>
          </ac:spMkLst>
        </pc:spChg>
      </pc:sldChg>
      <pc:sldChg chg="modSp mod">
        <pc:chgData name="Jack Schwartz" userId="da9bca8de754b386" providerId="LiveId" clId="{1068BB1D-95EC-4C35-9BF4-99C256A087C7}" dt="2025-11-03T21:34:55.016" v="2" actId="1076"/>
        <pc:sldMkLst>
          <pc:docMk/>
          <pc:sldMk cId="1914811751" sldId="257"/>
        </pc:sldMkLst>
        <pc:spChg chg="mod">
          <ac:chgData name="Jack Schwartz" userId="da9bca8de754b386" providerId="LiveId" clId="{1068BB1D-95EC-4C35-9BF4-99C256A087C7}" dt="2025-11-03T21:34:55.016" v="2" actId="1076"/>
          <ac:spMkLst>
            <pc:docMk/>
            <pc:sldMk cId="1914811751" sldId="257"/>
            <ac:spMk id="3" creationId="{977BDFD6-B232-C90D-8032-BD1F6F6CB387}"/>
          </ac:spMkLst>
        </pc:spChg>
      </pc:sldChg>
      <pc:sldChg chg="modSp mod">
        <pc:chgData name="Jack Schwartz" userId="da9bca8de754b386" providerId="LiveId" clId="{1068BB1D-95EC-4C35-9BF4-99C256A087C7}" dt="2025-11-03T21:34:58.533" v="3" actId="1076"/>
        <pc:sldMkLst>
          <pc:docMk/>
          <pc:sldMk cId="2404364428" sldId="258"/>
        </pc:sldMkLst>
        <pc:spChg chg="mod">
          <ac:chgData name="Jack Schwartz" userId="da9bca8de754b386" providerId="LiveId" clId="{1068BB1D-95EC-4C35-9BF4-99C256A087C7}" dt="2025-11-03T21:34:58.533" v="3" actId="1076"/>
          <ac:spMkLst>
            <pc:docMk/>
            <pc:sldMk cId="2404364428" sldId="258"/>
            <ac:spMk id="3" creationId="{FA7AC107-0071-7CA8-13DA-10B22EF1C4F3}"/>
          </ac:spMkLst>
        </pc:spChg>
      </pc:sldChg>
      <pc:sldChg chg="modSp mod">
        <pc:chgData name="Jack Schwartz" userId="da9bca8de754b386" providerId="LiveId" clId="{1068BB1D-95EC-4C35-9BF4-99C256A087C7}" dt="2025-11-03T21:35:01.142" v="4" actId="1076"/>
        <pc:sldMkLst>
          <pc:docMk/>
          <pc:sldMk cId="4056735555" sldId="259"/>
        </pc:sldMkLst>
        <pc:spChg chg="mod">
          <ac:chgData name="Jack Schwartz" userId="da9bca8de754b386" providerId="LiveId" clId="{1068BB1D-95EC-4C35-9BF4-99C256A087C7}" dt="2025-11-03T21:35:01.142" v="4" actId="1076"/>
          <ac:spMkLst>
            <pc:docMk/>
            <pc:sldMk cId="4056735555" sldId="259"/>
            <ac:spMk id="3" creationId="{481F0B52-D978-3D71-E2E1-3953CEF1E25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74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34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768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64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20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8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82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27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53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40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116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676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Open doors">
            <a:extLst>
              <a:ext uri="{FF2B5EF4-FFF2-40B4-BE49-F238E27FC236}">
                <a16:creationId xmlns:a16="http://schemas.microsoft.com/office/drawing/2014/main" id="{EA8EA17A-7058-9E57-B4F7-1455C39A9B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1485B5-4C2F-3E4A-032B-7C250B0CB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737" y="1562101"/>
            <a:ext cx="4359744" cy="273853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HCE Case Study: Emergency Room Visit Reduction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5353C-D0F1-EFCA-63A6-3494C68FC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224" y="4096513"/>
            <a:ext cx="4609257" cy="1137878"/>
          </a:xfrm>
        </p:spPr>
        <p:txBody>
          <a:bodyPr>
            <a:normAutofit/>
          </a:bodyPr>
          <a:lstStyle/>
          <a:p>
            <a:r>
              <a:rPr lang="en-US" sz="2400" dirty="0"/>
              <a:t>Jack Schwartz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589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623CE-AF2A-DE2E-D19D-E5070673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BDFD6-B232-C90D-8032-BD1F6F6CB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468881"/>
            <a:ext cx="10890928" cy="35661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dirty="0"/>
              <a:t>Objective</a:t>
            </a:r>
            <a:r>
              <a:rPr lang="en-US" dirty="0"/>
              <a:t>: Reduce unnecessary ER utilization from 525 to 450 visits per 1,000 members within 3 years.</a:t>
            </a:r>
          </a:p>
          <a:p>
            <a:pPr marL="0" indent="0">
              <a:buNone/>
            </a:pPr>
            <a:r>
              <a:rPr lang="en-US" u="sng" dirty="0"/>
              <a:t>Membership Projections</a:t>
            </a:r>
          </a:p>
          <a:p>
            <a:pPr lvl="1"/>
            <a:r>
              <a:rPr lang="en-US" dirty="0"/>
              <a:t>Year 1 – 5,000 Members | Year 2 – 5,500 Members | Year 3 – 6,000 Members</a:t>
            </a:r>
          </a:p>
          <a:p>
            <a:pPr marL="0" indent="0">
              <a:buNone/>
            </a:pPr>
            <a:r>
              <a:rPr lang="en-US" u="sng" dirty="0"/>
              <a:t>Three Intervention Strategies Analyzed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Hire on additional practitioner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Open an urgent care center (40% population accessibility)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Implement a triage nurse phone line</a:t>
            </a:r>
          </a:p>
        </p:txBody>
      </p:sp>
    </p:spTree>
    <p:extLst>
      <p:ext uri="{BB962C8B-B14F-4D97-AF65-F5344CB8AC3E}">
        <p14:creationId xmlns:p14="http://schemas.microsoft.com/office/powerpoint/2010/main" val="1914811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2645D-3BCD-DDE4-FB90-03AD2F6A6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&amp; Financial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AC107-0071-7CA8-13DA-10B22EF1C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468881"/>
            <a:ext cx="10890928" cy="356616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Built a dynamic Excel model using linked assumptions and formulas.</a:t>
            </a:r>
          </a:p>
          <a:p>
            <a:r>
              <a:rPr lang="en-US" dirty="0"/>
              <a:t>Baseline ER visits calculated as</a:t>
            </a:r>
          </a:p>
          <a:p>
            <a:pPr lvl="1"/>
            <a:r>
              <a:rPr lang="en-US" dirty="0"/>
              <a:t>ER VISITS = (Members ÷ 1,000) x 525</a:t>
            </a:r>
          </a:p>
          <a:p>
            <a:r>
              <a:rPr lang="en-US" dirty="0"/>
              <a:t>For each option, the model calculates:</a:t>
            </a:r>
          </a:p>
          <a:p>
            <a:pPr lvl="1"/>
            <a:r>
              <a:rPr lang="en-US" dirty="0"/>
              <a:t>ER visit reduction based on case assumptions</a:t>
            </a:r>
          </a:p>
          <a:p>
            <a:pPr lvl="1"/>
            <a:r>
              <a:rPr lang="en-US" dirty="0"/>
              <a:t>Gross Savings = Avoided ER Visits x $1,200</a:t>
            </a:r>
          </a:p>
          <a:p>
            <a:pPr lvl="1"/>
            <a:r>
              <a:rPr lang="en-US" dirty="0"/>
              <a:t>Offset Costs = Redirected visits to urgent care / primary care / office visits</a:t>
            </a:r>
          </a:p>
          <a:p>
            <a:pPr lvl="1"/>
            <a:r>
              <a:rPr lang="en-US" dirty="0"/>
              <a:t>Program Costs = salary, setup cost, overhead, or operations</a:t>
            </a:r>
          </a:p>
          <a:p>
            <a:pPr lvl="1"/>
            <a:r>
              <a:rPr lang="en-US" dirty="0"/>
              <a:t>Net Savings = Gross Savings – Total Costs</a:t>
            </a:r>
          </a:p>
          <a:p>
            <a:r>
              <a:rPr lang="en-US" dirty="0"/>
              <a:t>ER Utilization recalculated per 1,000 members to assess if the goal of ≤ 450 is met.</a:t>
            </a:r>
          </a:p>
        </p:txBody>
      </p:sp>
    </p:spTree>
    <p:extLst>
      <p:ext uri="{BB962C8B-B14F-4D97-AF65-F5344CB8AC3E}">
        <p14:creationId xmlns:p14="http://schemas.microsoft.com/office/powerpoint/2010/main" val="2404364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5046A-6643-DE4B-7FCA-53BFFA4E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– ER Utilization &amp; Savings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F0B52-D978-3D71-E2E1-3953CEF1E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468881"/>
            <a:ext cx="10890928" cy="35661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u="sng" dirty="0"/>
              <a:t>ER Utilization in Year 3 (Goal ≤ 450 per 1,000 members):</a:t>
            </a:r>
          </a:p>
          <a:p>
            <a:r>
              <a:rPr lang="en-US" b="1" dirty="0">
                <a:highlight>
                  <a:srgbClr val="00FF00"/>
                </a:highlight>
              </a:rPr>
              <a:t>Option 1: 446.25 (MEETS GOAL)</a:t>
            </a:r>
          </a:p>
          <a:p>
            <a:r>
              <a:rPr lang="en-US" b="1" dirty="0">
                <a:highlight>
                  <a:srgbClr val="FF0000"/>
                </a:highlight>
              </a:rPr>
              <a:t>Option 2: 493.5 (DOES NOT MEET GOAL)</a:t>
            </a:r>
          </a:p>
          <a:p>
            <a:r>
              <a:rPr lang="en-US" b="1" dirty="0">
                <a:highlight>
                  <a:srgbClr val="00FF00"/>
                </a:highlight>
              </a:rPr>
              <a:t>Option 3: 446.25 (MEETS GOAL)</a:t>
            </a:r>
          </a:p>
          <a:p>
            <a:pPr marL="0" indent="0">
              <a:buNone/>
            </a:pPr>
            <a:r>
              <a:rPr lang="en-US" b="1" u="sng" dirty="0"/>
              <a:t>3-Year Total Net Savings:</a:t>
            </a:r>
          </a:p>
          <a:p>
            <a:r>
              <a:rPr lang="en-US" b="1" dirty="0">
                <a:highlight>
                  <a:srgbClr val="FF0000"/>
                </a:highlight>
              </a:rPr>
              <a:t>Option 1: $1.08M</a:t>
            </a:r>
          </a:p>
          <a:p>
            <a:r>
              <a:rPr lang="en-US" b="1" dirty="0">
                <a:highlight>
                  <a:srgbClr val="FF0000"/>
                </a:highlight>
              </a:rPr>
              <a:t>Option 2: $183,000</a:t>
            </a:r>
          </a:p>
          <a:p>
            <a:r>
              <a:rPr lang="en-US" b="1" dirty="0">
                <a:highlight>
                  <a:srgbClr val="00FF00"/>
                </a:highlight>
              </a:rPr>
              <a:t>Option 3: 1.23M (Highest Savings)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735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C6429-A713-DC19-260E-1CBA3C0FC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Model – Baseline &amp; Option One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2D823D-732D-BBCE-76C1-421DF4325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058" y="2468881"/>
            <a:ext cx="8363882" cy="12501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A83339F-92EE-F060-5CC8-462891EA0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862" y="4164327"/>
            <a:ext cx="8178275" cy="209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107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B8AEF-2627-216C-5581-5D1B197EF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Model – Option Two &amp; Option Three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0693A8-D7D4-9E2C-BEB2-FAFA3EFD1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50" y="2304288"/>
            <a:ext cx="7962900" cy="20848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D08B6A-291A-50BF-19E5-740EF9428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638" y="4471416"/>
            <a:ext cx="8078724" cy="20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093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24F43-DC5E-3620-5A75-C11FBB77A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1122331"/>
            <a:ext cx="10890929" cy="1097280"/>
          </a:xfrm>
        </p:spPr>
        <p:txBody>
          <a:bodyPr/>
          <a:lstStyle/>
          <a:p>
            <a:r>
              <a:rPr lang="en-US" dirty="0"/>
              <a:t>Findings &amp;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C026D-290D-1625-92DD-941C43C35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" y="4638390"/>
            <a:ext cx="12118848" cy="205502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Option 1 and Option 3 Both Meet the ER utilization target of ≤ 450 per 1,000 members.</a:t>
            </a:r>
          </a:p>
          <a:p>
            <a:r>
              <a:rPr lang="en-US" b="1" dirty="0"/>
              <a:t>Option 3 provides the highest financial benefit - $1.23M in 3-year net savings.</a:t>
            </a:r>
          </a:p>
          <a:p>
            <a:r>
              <a:rPr lang="en-US" dirty="0"/>
              <a:t>Option 3 has no staffing salary inflation, lower implementation risk, and scalable impact</a:t>
            </a:r>
          </a:p>
          <a:p>
            <a:r>
              <a:rPr lang="en-US" dirty="0"/>
              <a:t>Option 2 does not meet the ER reduction target and generates the lowest financial return.</a:t>
            </a:r>
          </a:p>
          <a:p>
            <a:r>
              <a:rPr lang="en-US" b="1" dirty="0"/>
              <a:t>Final Recommendation: Implement Option 3: Triage Nurse Phone Line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C27424-2E4D-1424-44D9-5BFD214EC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572" y="1853850"/>
            <a:ext cx="3737637" cy="264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8025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341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Grandview Display</vt:lpstr>
      <vt:lpstr>DashVTI</vt:lpstr>
      <vt:lpstr>HCE Case Study: Emergency Room Visit Reduction</vt:lpstr>
      <vt:lpstr>Case Overview</vt:lpstr>
      <vt:lpstr>Methods &amp; Financial Model</vt:lpstr>
      <vt:lpstr>Findings – ER Utilization &amp; Savings Comparison</vt:lpstr>
      <vt:lpstr>Excel Model – Baseline &amp; Option One</vt:lpstr>
      <vt:lpstr>Excel Model – Option Two &amp; Option Three</vt:lpstr>
      <vt:lpstr>Findings &amp;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Schwartz</dc:creator>
  <cp:lastModifiedBy>Jack Schwartz</cp:lastModifiedBy>
  <cp:revision>1</cp:revision>
  <dcterms:created xsi:type="dcterms:W3CDTF">2025-11-03T20:58:46Z</dcterms:created>
  <dcterms:modified xsi:type="dcterms:W3CDTF">2025-11-03T21:35:21Z</dcterms:modified>
</cp:coreProperties>
</file>