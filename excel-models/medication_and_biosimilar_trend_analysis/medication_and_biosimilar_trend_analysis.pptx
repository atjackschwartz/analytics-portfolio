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4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0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6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49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337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3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6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1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5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5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7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CE6B7-9C06-42A0-EED3-42492C9F7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Analysis of Drug Spending (2018-2021)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C5622-0A5C-47E1-EBF0-B0C64AFC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Jack Schwartz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52DF8-9EA5-BD49-70BD-95ED22085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2" r="26128" b="-2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3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BFC4-36DB-217F-32A6-123E517E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Takeaways: Cost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76EA-986A-CA45-ECD6-1BEF5E267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5483352" cy="4593828"/>
          </a:xfrm>
        </p:spPr>
        <p:txBody>
          <a:bodyPr/>
          <a:lstStyle/>
          <a:p>
            <a:pPr marL="0" indent="0" algn="ctr">
              <a:buNone/>
            </a:pPr>
            <a:r>
              <a:rPr lang="en-US" u="sng" dirty="0"/>
              <a:t>PMPM Change</a:t>
            </a:r>
          </a:p>
          <a:p>
            <a:r>
              <a:rPr lang="en-US" sz="1800" b="1" dirty="0"/>
              <a:t>Total PMPM increased</a:t>
            </a:r>
            <a:r>
              <a:rPr lang="en-US" sz="1800" dirty="0"/>
              <a:t> by </a:t>
            </a:r>
            <a:r>
              <a:rPr lang="en-US" sz="1800" b="1" dirty="0"/>
              <a:t>$30.65</a:t>
            </a:r>
            <a:r>
              <a:rPr lang="en-US" sz="1800" dirty="0"/>
              <a:t> from 2018 to 2021</a:t>
            </a:r>
          </a:p>
          <a:p>
            <a:r>
              <a:rPr lang="en-US" sz="1800" dirty="0"/>
              <a:t>Driven by rising spending despite declining FFS Beneficiary Count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8A718-217B-0527-71B7-169432F62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689" y="2442173"/>
            <a:ext cx="3086554" cy="3507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775ED2-5CF1-48B9-8A84-DFBF651EA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78" y="4095414"/>
            <a:ext cx="5537491" cy="13554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3B29F0-563E-B841-459A-4D5E54C1C8CC}"/>
              </a:ext>
            </a:extLst>
          </p:cNvPr>
          <p:cNvSpPr txBox="1"/>
          <p:nvPr/>
        </p:nvSpPr>
        <p:spPr>
          <a:xfrm>
            <a:off x="5939437" y="171553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u="sng" dirty="0"/>
              <a:t>Top Medications by PMPM Increase</a:t>
            </a:r>
          </a:p>
        </p:txBody>
      </p:sp>
    </p:spTree>
    <p:extLst>
      <p:ext uri="{BB962C8B-B14F-4D97-AF65-F5344CB8AC3E}">
        <p14:creationId xmlns:p14="http://schemas.microsoft.com/office/powerpoint/2010/main" val="41612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E579-2A5E-CBF0-3B00-A8F6A37A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783707"/>
          </a:xfrm>
        </p:spPr>
        <p:txBody>
          <a:bodyPr/>
          <a:lstStyle/>
          <a:p>
            <a:pPr algn="ctr"/>
            <a:r>
              <a:rPr lang="en-US" dirty="0"/>
              <a:t>Key Takeaways: Drivers of Cost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8D07-23D1-A9E7-3F9E-8E2511A83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4169665" cy="294790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u="sng" dirty="0"/>
              <a:t>Entyvio Cost Increase</a:t>
            </a:r>
          </a:p>
          <a:p>
            <a:r>
              <a:rPr lang="en-US" sz="1800" dirty="0"/>
              <a:t>Total Increase in 2021 Spending: $283M</a:t>
            </a:r>
          </a:p>
          <a:p>
            <a:r>
              <a:rPr lang="en-US" sz="1800" b="1" dirty="0"/>
              <a:t>66.2% (187.69M)</a:t>
            </a:r>
            <a:r>
              <a:rPr lang="en-US" sz="1800" dirty="0"/>
              <a:t> driven by </a:t>
            </a:r>
            <a:r>
              <a:rPr lang="en-US" sz="1800" b="1" dirty="0"/>
              <a:t>patients</a:t>
            </a:r>
          </a:p>
          <a:p>
            <a:r>
              <a:rPr lang="en-US" sz="1800" b="1" dirty="0"/>
              <a:t>33.8% (95.83M)</a:t>
            </a:r>
            <a:r>
              <a:rPr lang="en-US" sz="1800" dirty="0"/>
              <a:t> driven by </a:t>
            </a:r>
            <a:r>
              <a:rPr lang="en-US" sz="1800" b="1" dirty="0"/>
              <a:t>higher per-patient cost</a:t>
            </a:r>
          </a:p>
          <a:p>
            <a:r>
              <a:rPr lang="en-US" sz="1800" dirty="0"/>
              <a:t>Volume driven utilization growth</a:t>
            </a:r>
          </a:p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05488-A343-E69C-3C66-A2412F8264A9}"/>
              </a:ext>
            </a:extLst>
          </p:cNvPr>
          <p:cNvSpPr txBox="1"/>
          <p:nvPr/>
        </p:nvSpPr>
        <p:spPr>
          <a:xfrm>
            <a:off x="5939437" y="1715532"/>
            <a:ext cx="609447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u="sng" dirty="0"/>
              <a:t>Biosimilar Financial Impact</a:t>
            </a:r>
          </a:p>
          <a:p>
            <a:pPr marL="0" indent="0" algn="ctr">
              <a:buNone/>
            </a:pPr>
            <a:endParaRPr lang="en-US" sz="20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Gross biosimilar savings:</a:t>
            </a:r>
            <a:r>
              <a:rPr lang="en-US" dirty="0"/>
              <a:t> </a:t>
            </a:r>
            <a:r>
              <a:rPr lang="en-US" b="1" dirty="0"/>
              <a:t>$307.92 million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Reflects variation between biosimilar pricing vs biologic reference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Savings vary per class, some positive others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56D05A-DFC7-9A1F-EA70-37782BB9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275" y="4300681"/>
            <a:ext cx="5638800" cy="1181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57A040-052C-A6E6-1565-CB0728764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25" y="4698074"/>
            <a:ext cx="4628770" cy="7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6556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108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Analysis of Drug Spending (2018-2021)</vt:lpstr>
      <vt:lpstr>Key Takeaways: Cost Changes</vt:lpstr>
      <vt:lpstr>Key Takeaways: Drivers of Cost Change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Schwartz</dc:creator>
  <cp:lastModifiedBy>Jack Schwartz</cp:lastModifiedBy>
  <cp:revision>2</cp:revision>
  <dcterms:created xsi:type="dcterms:W3CDTF">2025-12-01T22:01:33Z</dcterms:created>
  <dcterms:modified xsi:type="dcterms:W3CDTF">2025-12-01T22:41:30Z</dcterms:modified>
</cp:coreProperties>
</file>